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Overlock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TZLVynkmJspnupLbml4HWWhG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D301BF-F363-4772-A645-63715EADEBF8}">
  <a:tblStyle styleId="{4DD301BF-F363-4772-A645-63715EADEB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verlock-bold.fntdata"/><Relationship Id="rId16" Type="http://schemas.openxmlformats.org/officeDocument/2006/relationships/font" Target="fonts/Overlock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verlock-boldItalic.fntdata"/><Relationship Id="rId6" Type="http://schemas.openxmlformats.org/officeDocument/2006/relationships/slide" Target="slides/slide1.xml"/><Relationship Id="rId18" Type="http://schemas.openxmlformats.org/officeDocument/2006/relationships/font" Target="fonts/Overlock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github.com/zero-raven/samsung-prism" TargetMode="External"/><Relationship Id="rId4" Type="http://schemas.openxmlformats.org/officeDocument/2006/relationships/hyperlink" Target="http://youtube.com/watch?v=LP3W1RlkdJQ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40504" l="35216" r="35722" t="9860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b="1" i="0" sz="2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b="0" i="0" sz="36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53750" y="1163875"/>
            <a:ext cx="63504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 V College of Engineering_ FinSight</a:t>
            </a:r>
            <a:endParaRPr b="1" sz="3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FinSight — An Autonomous Cross-Domain Financial Intelligence Agent</a:t>
            </a:r>
            <a:endParaRPr sz="30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Team :</a:t>
            </a:r>
            <a:b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1. Vittal Mukunda </a:t>
            </a:r>
            <a:b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2. Suraj Gupta</a:t>
            </a:r>
            <a:b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</a:br>
            <a: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3. Nikhilesh Gupta</a:t>
            </a:r>
            <a:endParaRPr b="1" sz="3000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4. Stavan Rahul Khobare</a:t>
            </a:r>
            <a:endParaRPr b="1" sz="3000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94" name="Google Shape;94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b="1" i="0" sz="18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9741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19341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19341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19341" y="67056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50214" y="1682950"/>
            <a:ext cx="10618200" cy="49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Theme: Gen AI Research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of the problem: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25.79 crore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unique NSE investor accounts as of May 2026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91%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retail traders in India incurred losses in F&amp;O in 2025 (SEBI study)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retail investor holds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10-20 stocks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no systematic event-monitoring tool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information gap: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Bloomberg Terminal: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$27,000/year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used by institutions, inaccessible to retail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Zerodha, Groww, Upstox: deliver price quotes and charts —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causal reasoning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News apps: deliver headlines — </a:t>
            </a: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portfolio linkage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no existing tool answers: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"The RBI just hiked rates by 50 bps. Which of my holdings is exposed, in which direction, by how much, and what happened the last time this occurred?"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Solution &amp; Gaps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3"/>
          <p:cNvGraphicFramePr/>
          <p:nvPr/>
        </p:nvGraphicFramePr>
        <p:xfrm>
          <a:off x="845350" y="1580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{4DD301BF-F363-4772-A645-63715EADEBF8}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Tool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offers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 gap</a:t>
                      </a:r>
                      <a:endParaRPr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Bloomberg / Refinitiv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Institutional-grade event mapping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₹22L+/year, zero retail reach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Zerodha / Groww / Upstox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Price, charts, basic news feed 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event-to-portfolio reasoning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Tickertape / Smallcase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Screeners, thematic baskets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 — no live event response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Sentiment APIs (e.g. Refinitiv)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Aggregate sentiment 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Black-box, no causal chain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ChatGPT / Gemini (manual)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On-demand analysis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autonomous, not portfolio-aware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6" name="Google Shape;116;p3"/>
          <p:cNvSpPr txBox="1"/>
          <p:nvPr/>
        </p:nvSpPr>
        <p:spPr>
          <a:xfrm>
            <a:off x="867000" y="4247275"/>
            <a:ext cx="10287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structurally missing: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tool connects: Global Event → Sector Impact → Your Specific Holding → Explainable Signal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retail tool runs autonomously on a heartbeat without user intervention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free tool provides a historical analogue to ground its reasoning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 opportunity: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India's retail equity participation grew from 3.7 crore to 13.1 crore unique accounts between 2020–2026; this represents 9.4 crore new investors, the vast majority of whom still lack access to institutional-grade event intelligence.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"/>
          <p:cNvSpPr/>
          <p:nvPr/>
        </p:nvSpPr>
        <p:spPr>
          <a:xfrm>
            <a:off x="9741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19341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619341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9341" y="67056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</a:t>
            </a: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Solutions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385575" y="1747375"/>
            <a:ext cx="49755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FinSight: A 6-skill autonomous agent pipeline</a:t>
            </a:r>
            <a:endParaRPr b="1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it does: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Monitors live financial news, extracts financial entities, retrieves historical analogues via RAG, maps impact to your exact portfolio holdings, generates directional signals, and delivers explainable Telegram alerts — automatically, every 30 minutes.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insight:</a:t>
            </a:r>
            <a:r>
              <a:rPr lang="en-I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Every signal cites a real, verifiable historical analogue from a curated dataset. The output is an auditable argument, not a black-box score.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8850" y="1428675"/>
            <a:ext cx="6639398" cy="442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09600" y="72436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/>
        </p:nvSpPr>
        <p:spPr>
          <a:xfrm>
            <a:off x="779475" y="1741375"/>
            <a:ext cx="7559100" cy="49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Real example: RBI off-cycle rate hike, May 2026</a:t>
            </a:r>
            <a:endParaRPr b="1"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Step 1 — Ingest: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14 articles fetched across 3 sources. 9 pass deduplication.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Step 2 — Extract: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Significance: 9/10. Sectors identified: banking, NBFC, realty. Event type: monetary policy.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Step 3 — Analyze: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Closest analogue retrieved — </a:t>
            </a:r>
            <a:r>
              <a:rPr i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RBI emergency hike, May 2022 (40 bps).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Causal mechanism: rate hikes compress NIM for PSU banks short-term; private banks historically recover within 6–8 weeks.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Step 4 — Portfolio: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HDFC Bank (18.2%) + SBI (12.9%) = </a:t>
            </a: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31.1% of portfolio exposed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→ ₹1.24L of ₹3.98L affected.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Step 5 — Signal: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BEARISH · HIGH confidence · Horizon: weeks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b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Step 6 — Deliver: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Immediate alert triggered — HIGH confidence + exposure &gt; 5%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FinSight Alert : </a:t>
            </a:r>
            <a:endParaRPr i="1"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RBI off-cycle hike: 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50 bps — monetary policy shock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Exposure: 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₹1.24L / ₹3.98L portfolio (31.1%) — NEGATIVE BEARISH | HIGH confidence 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Horizon: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weeks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Analogue: 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RBI May 2022 — HDFC Bank fell 4.3% in 2 weeks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Risk:</a:t>
            </a:r>
            <a:r>
              <a:rPr lang="en-IN" sz="15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Realty sector secondary exposure via home loan demand</a:t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36109" r="29790" t="0"/>
          <a:stretch/>
        </p:blipFill>
        <p:spPr>
          <a:xfrm>
            <a:off x="8280275" y="509125"/>
            <a:ext cx="3385948" cy="58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&amp; Architecture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740500" y="1682950"/>
            <a:ext cx="6604500" cy="5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300">
                <a:solidFill>
                  <a:schemeClr val="dk1"/>
                </a:solidFill>
              </a:rPr>
              <a:t>Stack: fully open-source, zero cloud cost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Agent Runtime:</a:t>
            </a:r>
            <a:r>
              <a:rPr lang="en-IN" sz="1300">
                <a:solidFill>
                  <a:schemeClr val="dk1"/>
                </a:solidFill>
              </a:rPr>
              <a:t> OpenClaw 2026.4 — self-hosted, heartbeat scheduler, declarative SKILL.md skills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LLM:</a:t>
            </a:r>
            <a:r>
              <a:rPr lang="en-IN" sz="1300">
                <a:solidFill>
                  <a:schemeClr val="dk1"/>
                </a:solidFill>
              </a:rPr>
              <a:t> Groq llama-3.3-70b-versatile — free tier, 100K tokens/day, sub-2s latency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Embeddings:</a:t>
            </a:r>
            <a:r>
              <a:rPr lang="en-IN" sz="1300">
                <a:solidFill>
                  <a:schemeClr val="dk1"/>
                </a:solidFill>
              </a:rPr>
              <a:t> sentence-transformers all-MiniLM-L6-v2 — 384-dim, 90MB, CPU-only, MIT licensed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Vector Store:</a:t>
            </a:r>
            <a:r>
              <a:rPr lang="en-IN" sz="1300">
                <a:solidFill>
                  <a:schemeClr val="dk1"/>
                </a:solidFill>
              </a:rPr>
              <a:t> ChromaDB on local SQLite — zero-config, no server, persistent across runs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Knowledge Graph:</a:t>
            </a:r>
            <a:r>
              <a:rPr lang="en-IN" sz="1300">
                <a:solidFill>
                  <a:schemeClr val="dk1"/>
                </a:solidFill>
              </a:rPr>
              <a:t> NetworkX serialised as JSON — maps 2nd-degree sector exposures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Live Prices:</a:t>
            </a:r>
            <a:r>
              <a:rPr lang="en-IN" sz="1300">
                <a:solidFill>
                  <a:schemeClr val="dk1"/>
                </a:solidFill>
              </a:rPr>
              <a:t> yfinance — free, no API key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News Sources:</a:t>
            </a:r>
            <a:r>
              <a:rPr lang="en-IN" sz="1300">
                <a:solidFill>
                  <a:schemeClr val="dk1"/>
                </a:solidFill>
              </a:rPr>
              <a:t> Google News RSS + GDELT 2.0 + Finnhub — all zero-cost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IN" sz="1300">
                <a:solidFill>
                  <a:schemeClr val="dk1"/>
                </a:solidFill>
              </a:rPr>
              <a:t>Delivery:</a:t>
            </a:r>
            <a:r>
              <a:rPr lang="en-IN" sz="1300">
                <a:solidFill>
                  <a:schemeClr val="dk1"/>
                </a:solidFill>
              </a:rPr>
              <a:t> Telegram Bot API via direct REST — no SaaS dependency, instant mobile push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chemeClr val="dk1"/>
                </a:solidFill>
              </a:rPr>
              <a:t>AI usage per event:</a:t>
            </a:r>
            <a:r>
              <a:rPr lang="en-IN" sz="1300">
                <a:solidFill>
                  <a:schemeClr val="dk1"/>
                </a:solidFill>
              </a:rPr>
              <a:t> ~7,000 tokens · 4 LLM calls across Skills 2, 3, and 5 Supports approximately </a:t>
            </a:r>
            <a:r>
              <a:rPr b="1" lang="en-IN" sz="1300">
                <a:solidFill>
                  <a:schemeClr val="dk1"/>
                </a:solidFill>
              </a:rPr>
              <a:t>14 fresh events per day</a:t>
            </a:r>
            <a:r>
              <a:rPr lang="en-IN" sz="1300">
                <a:solidFill>
                  <a:schemeClr val="dk1"/>
                </a:solidFill>
              </a:rPr>
              <a:t> on the Groq free tier.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chemeClr val="dk1"/>
                </a:solidFill>
              </a:rPr>
              <a:t>System flow:</a:t>
            </a:r>
            <a:r>
              <a:rPr lang="en-IN" sz="1300">
                <a:solidFill>
                  <a:schemeClr val="dk1"/>
                </a:solidFill>
              </a:rPr>
              <a:t> </a:t>
            </a:r>
            <a:r>
              <a:rPr lang="en-IN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News APIs → Ingest → Extract (LLM) → RAG Analyze (LLM) → Portfolio (deterministic) → Signal (LLM) → Telegram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6" title="mermaid-diagra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46507" y="314300"/>
            <a:ext cx="2119768" cy="6229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740500" y="1682950"/>
            <a:ext cx="10686300" cy="49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real scenarios, Indian market context: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🛢️ Geopolitical — Hormuz Strait tension (May 2025)</a:t>
            </a: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Brent crude +4.2% overnight. FinSight flags ONGC, Oil India holdings as positively exposed (18% portfolio). Analogue cited: </a:t>
            </a:r>
            <a:r>
              <a:rPr i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2019 Saudi Aramco drone attack — ONGC +6.1% in 5 trading days.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🏦 Monetary policy — RBI rate hike cycle (2022–23)</a:t>
            </a: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 bps cumulative hike. FinSight flags HDFC Bank, SBI as BEARISH short-term, with 6–8 week recovery horizon. Analogue: </a:t>
            </a:r>
            <a:r>
              <a:rPr i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2013 taper tantrum — PSU banks fell avg 11% before recovery.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💊 Regulatory — USFDA fast-track approval (generic oncology)</a:t>
            </a: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FinSight detects pharma sector positive signal. Sun Pharma, Dr. Reddy's flagged as BULLISH. Analogue: </a:t>
            </a:r>
            <a:r>
              <a:rPr i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2020 COVID API demand surge — pharma index +34% in 90 days.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💻 Macro — US Fed holds rates, USD weakens</a:t>
            </a: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INR strengthens → IT sector margin expansion. FinSight flags Infosys, TCS as BULLISH. Analogue: </a:t>
            </a:r>
            <a:r>
              <a:rPr i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Q3 FY23 — Infosys revenue beat driven by USD/INR tailwind.</a:t>
            </a:r>
            <a:endParaRPr i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Scale potential: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25.79 crore</a:t>
            </a: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NSE demat accounts in India (2026)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₹0/month</a:t>
            </a: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infrastructure cost on free tiers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Deployable on any laptop; no cloud required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 txBox="1"/>
          <p:nvPr/>
        </p:nvSpPr>
        <p:spPr>
          <a:xfrm>
            <a:off x="609600" y="1422250"/>
            <a:ext cx="10807200" cy="6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MOAT 1 — Explainability with Historical Grounding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FinSight does not produce a sentiment score. It produces a causal argument: trigger → mechanism → historical analogue → affected holdings → signal → risk flags. Every output is verifiable — the cited analogue can be independently looked up.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architecturally enforced. The LLM must retrieve from the hand-curated Golden Dataset in ChromaDB. Hallucinated analogues are structurally impossible. Sentiment APIs give a number. Bloomberg gives a headline. Neither explains what a given event means for a </a:t>
            </a:r>
            <a:r>
              <a:rPr i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user’s</a:t>
            </a: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portfolio.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MOAT 2 — Autonomous Zero-Cost Operation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full stack — news ingestion, LLM reasoning, RAG retrieval, portfolio mapping, delivery — runs on free API tiers with a 30-minute autonomous heartbeat. No Bloomberg subscription. No cloud bill. No manual query required.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creates a defensible cost structure: institutional-grade reasoning at retail-accessible cost, with no ongoing dependency on paid infrastructure.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Finsight’s Novelty Over Existing Tech :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Bloomberg Terminal : Delivers India-specific portfolio-aware financial event intelligence in a lightweight, retail-accessible, mobile-first workflow without the infrastructure and licensing overhead of institutional platforms.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Traditional Sentiment APIs : Provides explainable causal-chain analysis grounded in historical analogues rather than opaque aggregate sentiment scores.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-I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General-Purpose LLMs : Operates as a fully autonomous, continuously running agent pipeline with persistent portfolio context, retrieval memory, and automated alert delivery instead of one-shot conversational queries.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"/>
          <p:cNvSpPr/>
          <p:nvPr/>
        </p:nvSpPr>
        <p:spPr>
          <a:xfrm>
            <a:off x="9741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619341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19341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19341" y="67056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750214" y="1682950"/>
            <a:ext cx="10637700" cy="23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🔗 </a:t>
            </a:r>
            <a:r>
              <a:rPr lang="en-I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github.com/zero-raven/samsung-prism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Video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🎥 </a:t>
            </a:r>
            <a:r>
              <a:rPr lang="en-IN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youtube.com/watch?v=LP3W1RlkdJQ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Usage Disclosure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Submitted alongside this presentation — OpenClaw / FinSight · R V College of Engineering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 run: 3–6 minutes. Telegram alert delivered automatically on completion.</a:t>
            </a:r>
            <a:endParaRPr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-19483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590117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590117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90117" y="67056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Built for the Indian Financial Ecosystem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 txBox="1"/>
          <p:nvPr/>
        </p:nvSpPr>
        <p:spPr>
          <a:xfrm>
            <a:off x="721036" y="1682950"/>
            <a:ext cx="10704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India-Centric Financial Intelligence 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Tracks RBI policies, Union Budget updates, crude oil shocks, PSU developments, and Indian market-moving events relevant to retail investors.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Portfolio-Aware for Indian Investors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Analyzes NSE/BSE-focused portfolios and maps macroeconomic events to sectors such as banking, NBFCs, realty, energy, and IT.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Explainable Indian Market Context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India-relevant historical analogues and causal-chain reasoning instead of opaque sentiment scores.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Accessible &amp; Retail-First 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Designed as a lightweight, mobile-first alternative to institutional financial intelligence platforms using free-tier and self-hosted infrastructure.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2026-04-27T09:11:02Z</dcterms:created>
  <dc:creator>Prakhar Chandrakar ./PRISM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